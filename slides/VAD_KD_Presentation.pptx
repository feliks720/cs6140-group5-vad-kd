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194560"/>
            <a:ext cx="3200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Knowledge Distillation for</a:t>
            </a:r>
            <a:br/>
            <a:r>
              <a:t>Voice Activity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EC9B0"/>
                </a:solidFill>
                <a:latin typeface="Segoe UI"/>
              </a:defRPr>
            </a:pPr>
            <a:r>
              <a:t>Compressing CRDNN Teacher into Lightweight Student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CS6140 Machine Learning  |  Northeastern University  |  Group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097280"/>
            <a:ext cx="3474720" cy="457200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C9B0"/>
                </a:solidFill>
                <a:latin typeface="Segoe UI"/>
              </a:defRPr>
            </a:pPr>
            <a:r>
              <a:t>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3 student architectures evaluated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Best F1: 0.8122 (TinyTransformer)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7.4x compression (TinyCNN: 57 KB)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Temperature sweep: T = {1, 2, 4, 8}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Dataset: LibriParty (350 sessions)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120640" cy="512064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500">
                <a:solidFill>
                  <a:srgbClr val="DDDDEE"/>
                </a:solidFill>
                <a:latin typeface="Segoe UI"/>
              </a:rPr>
              <a:t>Neural VAD models (CRDNN) achieve high accuracy but are too large for edge devices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500">
                <a:solidFill>
                  <a:srgbClr val="DDDDEE"/>
                </a:solidFill>
                <a:latin typeface="Segoe UI"/>
              </a:rPr>
              <a:t>Energy-based VAD is lightweight but fails in noisy, multi-speaker audio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500">
                <a:solidFill>
                  <a:srgbClr val="DDDDEE"/>
                </a:solidFill>
                <a:latin typeface="Segoe UI"/>
              </a:rPr>
              <a:t>Need: compact models that retain neural-level quality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EC9B0"/>
                </a:solidFill>
                <a:latin typeface="Consolas"/>
              </a:rPr>
              <a:t>  </a:t>
            </a:r>
            <a:r>
              <a:rPr sz="1500">
                <a:solidFill>
                  <a:srgbClr val="DDDDEE"/>
                </a:solidFill>
                <a:latin typeface="Segoe U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EC9B0"/>
                </a:solidFill>
                <a:latin typeface="Consolas"/>
              </a:rPr>
              <a:t>  </a:t>
            </a:r>
            <a:r>
              <a:rPr sz="1500">
                <a:solidFill>
                  <a:srgbClr val="DDDDEE"/>
                </a:solidFill>
                <a:latin typeface="Segoe UI"/>
              </a:rPr>
              <a:t>Knowledge Distillation transfers dark knowledge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EC9B0"/>
                </a:solidFill>
                <a:latin typeface="Consolas"/>
              </a:rPr>
              <a:t>  </a:t>
            </a:r>
            <a:r>
              <a:rPr sz="1500">
                <a:solidFill>
                  <a:srgbClr val="DDDDEE"/>
                </a:solidFill>
                <a:latin typeface="Segoe UI"/>
              </a:rPr>
              <a:t>from a large teacher to a small student via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EC9B0"/>
                </a:solidFill>
                <a:latin typeface="Consolas"/>
              </a:rPr>
              <a:t>  </a:t>
            </a:r>
            <a:r>
              <a:rPr sz="1500">
                <a:solidFill>
                  <a:srgbClr val="DDDDEE"/>
                </a:solidFill>
                <a:latin typeface="Segoe UI"/>
              </a:rPr>
              <a:t>softened probability distributions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  <a:latin typeface="Segoe UI"/>
              </a:defRPr>
            </a:pPr>
            <a:r>
              <a:t>Energy VAD vs Neural VAD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920240"/>
            <a:ext cx="2103120" cy="105156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9339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726C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871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Energy VAD speech ratio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20240"/>
            <a:ext cx="2103120" cy="105156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99339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ACE75"/>
                </a:solidFill>
                <a:latin typeface="Segoe UI"/>
              </a:defRPr>
            </a:pPr>
            <a:r>
              <a:t>45.6%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4871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Teacher speech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39"/>
            <a:ext cx="5120640" cy="256032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  <a:latin typeface="Segoe UI"/>
              </a:defRPr>
            </a:pPr>
            <a:r>
              <a:t>KD Loss 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348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AA"/>
                </a:solidFill>
                <a:latin typeface="Consolas"/>
              </a:defRPr>
            </a:pPr>
            <a:r>
              <a:t>L = a * KL(teacher_soft || student_soft) * T^2</a:t>
            </a:r>
            <a:br/>
            <a:r>
              <a:t>    + (1-a) * BCE(student, hard_label)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212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300">
                <a:solidFill>
                  <a:srgbClr val="AAAABB"/>
                </a:solidFill>
                <a:latin typeface="Segoe UI"/>
              </a:rPr>
              <a:t>a=0.7: KD loss dominates (70% soft, 30% hard)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300">
                <a:solidFill>
                  <a:srgbClr val="AAAABB"/>
                </a:solidFill>
                <a:latin typeface="Segoe UI"/>
              </a:rPr>
              <a:t>T: temperature controlling softness of distributions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300">
                <a:solidFill>
                  <a:srgbClr val="AAAABB"/>
                </a:solidFill>
                <a:latin typeface="Segoe UI"/>
              </a:rPr>
              <a:t>T^2 scaling preserves gradient magnitudes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Student Architectures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512064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C9B0"/>
                </a:solidFill>
                <a:latin typeface="Segoe UI"/>
              </a:defRPr>
            </a:pPr>
            <a:r>
              <a:t>TinyCNN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371600" cy="105156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EC9B0"/>
                </a:solidFill>
                <a:latin typeface="Segoe UI"/>
              </a:defRPr>
            </a:pPr>
            <a:r>
              <a:t>14,913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920240"/>
            <a:ext cx="1371600" cy="105156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99339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EC9B0"/>
                </a:solidFill>
                <a:latin typeface="Segoe UI"/>
              </a:defRPr>
            </a:pPr>
            <a:r>
              <a:t>57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87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Model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3x (Conv1D + BN + ReLU + Dropout)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Kernel sizes: 5, 5, 3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Captures local spectral patterns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No recurrence - fully parallel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188720"/>
            <a:ext cx="3474720" cy="512064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C9B0"/>
                </a:solidFill>
                <a:latin typeface="Segoe UI"/>
              </a:defRPr>
            </a:pPr>
            <a:r>
              <a:t>MLP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920240"/>
            <a:ext cx="1371600" cy="105156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99339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69CD6"/>
                </a:solidFill>
                <a:latin typeface="Segoe UI"/>
              </a:defRPr>
            </a:pPr>
            <a:r>
              <a:t>81,921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87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Parameters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920240"/>
            <a:ext cx="1371600" cy="105156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99339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69CD6"/>
                </a:solidFill>
                <a:latin typeface="Segoe UI"/>
              </a:defRPr>
            </a:pPr>
            <a:r>
              <a:t>313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487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Model 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2918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Context window: 5 frames each side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3-layer MLP per frame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LayerNorm + ReLU + Dropout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Frame-independent 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188720"/>
            <a:ext cx="3474720" cy="512064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C9B0"/>
                </a:solidFill>
                <a:latin typeface="Segoe UI"/>
              </a:defRPr>
            </a:pPr>
            <a:r>
              <a:t>TinyTransformer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1920240"/>
            <a:ext cx="1371600" cy="105156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99339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DCAA"/>
                </a:solidFill>
                <a:latin typeface="Segoe UI"/>
              </a:defRPr>
            </a:pPr>
            <a:r>
              <a:t>389,633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487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Parameters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1920240"/>
            <a:ext cx="1371600" cy="105156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199339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DCAA"/>
                </a:solidFill>
                <a:latin typeface="Segoe UI"/>
              </a:defRPr>
            </a:pPr>
            <a:r>
              <a:t>1.49 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487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Model 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2918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2-layer self-attention (2 heads)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d_model=64, d_ff=128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Sinusoidal positional encoding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Global temporal modeling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Teacher (CRDNN):  109,744 params  |  0.43 MB  |  SpeechBrain pretrained on LibriParty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Results: Student Architecture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T = 4,  alpha = 0.7,  30 epochs,  evaluated on dev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DER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726C"/>
                          </a:solidFill>
                          <a:latin typeface="Segoe UI"/>
                        </a:defRPr>
                      </a:pPr>
                      <a:r>
                        <a:t>Energy VAD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726C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726C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726C"/>
                          </a:solidFill>
                          <a:latin typeface="Segoe U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726C"/>
                          </a:solidFill>
                          <a:latin typeface="Segoe U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726C"/>
                          </a:solidFill>
                          <a:latin typeface="Segoe U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726C"/>
                          </a:solidFill>
                          <a:latin typeface="Segoe U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726C"/>
                          </a:solidFill>
                          <a:latin typeface="Segoe U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TinyCNN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14,913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57 KB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0.7707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0.7774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0.7640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0.8270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0.3703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81,921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313 KB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0.7841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0.7651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0.8040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0.8315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0.3476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TinyTransformer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389,633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1.49 MB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  <a:latin typeface="Segoe UI"/>
                        </a:defRPr>
                      </a:pPr>
                      <a:r>
                        <a:t>0.8122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  <a:latin typeface="Segoe UI"/>
                        </a:defRPr>
                      </a:pPr>
                      <a:r>
                        <a:t>0.7542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  <a:latin typeface="Segoe UI"/>
                        </a:defRPr>
                      </a:pPr>
                      <a:r>
                        <a:t>0.8800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  <a:latin typeface="Segoe UI"/>
                        </a:defRPr>
                      </a:pPr>
                      <a:r>
                        <a:t>0.8452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  <a:latin typeface="Segoe UI"/>
                        </a:defRPr>
                      </a:pPr>
                      <a:r>
                        <a:t>0.2962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06240"/>
            <a:ext cx="5120640" cy="237744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Segoe UI"/>
              </a:defRPr>
            </a:pPr>
            <a: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TinyTransformer: best quality (F1=0.81), self-attention captures global context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TinyCNN: best efficiency -- 7.4x compression, only 57 KB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MLP: balanced trade-off (F1=0.78, 313 KB)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All students &gt;&gt; energy VAD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120640" cy="237744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69CD6"/>
                </a:solidFill>
                <a:latin typeface="Segoe UI"/>
              </a:defRPr>
            </a:pPr>
            <a:r>
              <a:t>Compression vs Teacher (109K params)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7548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TinyCNN:          7.4x smaller   (14.9K params)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MLP:              1.3x smaller   (81.9K params)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TinyTransformer:  3.5x LARGER    (389K params)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69CD6"/>
                </a:solidFill>
                <a:latin typeface="Consolas"/>
              </a:rPr>
              <a:t>  </a:t>
            </a:r>
            <a:r>
              <a:rPr sz="1300">
                <a:solidFill>
                  <a:srgbClr val="DDDDEE"/>
                </a:solidFill>
                <a:latin typeface="Segoe UI"/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69CD6"/>
                </a:solidFill>
                <a:latin typeface="Consolas"/>
              </a:rPr>
              <a:t>  </a:t>
            </a:r>
            <a:r>
              <a:rPr sz="1300">
                <a:solidFill>
                  <a:srgbClr val="DDDDEE"/>
                </a:solidFill>
                <a:latin typeface="Segoe UI"/>
              </a:rPr>
              <a:t>TinyCNN is the practical edge-deployment choice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Temperature Sweep: Effect of T on TinyCNN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Student = TinyCNN,  alpha = 0.7,  30 epochs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DCDC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DCDC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DCDC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DCDC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DCDC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DER</a:t>
                      </a:r>
                    </a:p>
                  </a:txBody>
                  <a:tcPr>
                    <a:solidFill>
                      <a:srgbClr val="DCDC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Segoe UI"/>
                        </a:defRPr>
                      </a:pPr>
                      <a:r>
                        <a:t>Best Epoch</a:t>
                      </a:r>
                    </a:p>
                  </a:txBody>
                  <a:tcPr>
                    <a:solidFill>
                      <a:srgbClr val="DCDCA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T = 1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DCAA"/>
                          </a:solidFill>
                          <a:latin typeface="Segoe UI"/>
                        </a:defRPr>
                      </a:pPr>
                      <a:r>
                        <a:t>0.7759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DCAA"/>
                          </a:solidFill>
                          <a:latin typeface="Segoe UI"/>
                        </a:defRPr>
                      </a:pPr>
                      <a:r>
                        <a:t>0.8104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DCAA"/>
                          </a:solidFill>
                          <a:latin typeface="Segoe UI"/>
                        </a:defRPr>
                      </a:pPr>
                      <a:r>
                        <a:t>0.7443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DCAA"/>
                          </a:solidFill>
                          <a:latin typeface="Segoe UI"/>
                        </a:defRPr>
                      </a:pPr>
                      <a:r>
                        <a:t>0.8365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DCAA"/>
                          </a:solidFill>
                          <a:latin typeface="Segoe UI"/>
                        </a:defRPr>
                      </a:pPr>
                      <a:r>
                        <a:t>0.3626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CDCAA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T = 2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0.7720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0.7634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0.7808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0.8245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0.3678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T = 4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0.7707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0.7774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0.7640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0.8270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0.3703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2626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T = 8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0.7667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0.7595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0.7741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0.8208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0.3764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DDDEE"/>
                          </a:solidFill>
                          <a:latin typeface="Segoe U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023360"/>
            <a:ext cx="5120640" cy="256032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DCAA"/>
                </a:solidFill>
                <a:latin typeface="Segoe UI"/>
              </a:defRPr>
            </a:pPr>
            <a:r>
              <a:t>F1 Score by Temperature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127497"/>
            <a:ext cx="640080" cy="1090422"/>
          </a:xfrm>
          <a:prstGeom prst="roundRect">
            <a:avLst/>
          </a:prstGeom>
          <a:solidFill>
            <a:srgbClr val="DC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623620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T=1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85317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DCAA"/>
                </a:solidFill>
                <a:latin typeface="Segoe UI"/>
              </a:defRPr>
            </a:pPr>
            <a:r>
              <a:t>0.7759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5394960"/>
            <a:ext cx="640080" cy="822959"/>
          </a:xfrm>
          <a:prstGeom prst="round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623620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T=2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5120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69CD6"/>
                </a:solidFill>
                <a:latin typeface="Segoe UI"/>
              </a:defRPr>
            </a:pPr>
            <a:r>
              <a:t>0.7720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484113"/>
            <a:ext cx="640080" cy="733806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623620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T=4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520979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9B0"/>
                </a:solidFill>
                <a:latin typeface="Segoe UI"/>
              </a:defRPr>
            </a:pPr>
            <a:r>
              <a:t>0.7707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758433"/>
            <a:ext cx="640080" cy="459486"/>
          </a:xfrm>
          <a:prstGeom prst="round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623620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T=8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48411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AABB"/>
                </a:solidFill>
                <a:latin typeface="Segoe UI"/>
              </a:defRPr>
            </a:pPr>
            <a:r>
              <a:t>0.7667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5120640" cy="256032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69CD6"/>
                </a:solidFill>
                <a:latin typeface="Segoe UI"/>
              </a:defRPr>
            </a:pPr>
            <a:r>
              <a:t>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72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Lower T yields slightly better F1 for TinyCNN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T=1: highest precision (0.81), fastest convergence (epoch 17)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Higher T shifts trade-off toward recall at cost of precision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Small F1 range (0.77) suggests model capacity is the bottleneck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300">
                <a:solidFill>
                  <a:srgbClr val="DDDDEE"/>
                </a:solidFill>
                <a:latin typeface="Segoe UI"/>
              </a:rPr>
              <a:t>Binary VAD may benefit less from soft labels than multi-class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KD successfully transfers neural VAD quality to lightweight students, far surpassing energy-based VAD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TinyCNN achieves 7.4x compression at F1=0.77 -- suitable for real-time edge deployment (57 KB)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TinyTransformer reaches the best F1=0.81, but at 3.5x MORE parameters than the teacher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Temperature has minor impact on binary VAD -- T=1 slightly best, suggesting hard teacher decisions are already informative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4EC9B0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The precision-recall trade-off is tunable: TinyCNN favors precision, TinyTransformer favors 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C9B0"/>
                </a:solidFill>
                <a:latin typeface="Segoe UI"/>
              </a:defRPr>
            </a:pPr>
            <a:r>
              <a:t>Best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Best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391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DCAA"/>
                </a:solidFill>
                <a:latin typeface="Segoe UI"/>
              </a:defRPr>
            </a:pPr>
            <a:r>
              <a:t>TinyTransformer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856231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DDDDEE"/>
                </a:solidFill>
                <a:latin typeface="Segoe UI"/>
              </a:defRPr>
            </a:pPr>
            <a:r>
              <a:t>F1 = 0.8122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Best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249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Segoe UI"/>
              </a:defRPr>
            </a:pPr>
            <a:r>
              <a:t>TinyCNN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420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DDDDEE"/>
                </a:solidFill>
                <a:latin typeface="Segoe UI"/>
              </a:defRPr>
            </a:pPr>
            <a:r>
              <a:t>14,913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154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Segoe UI"/>
              </a:defRPr>
            </a:pPr>
            <a:r>
              <a:t>Best 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107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69CD6"/>
                </a:solidFill>
                <a:latin typeface="Segoe UI"/>
              </a:defRPr>
            </a:pPr>
            <a:r>
              <a:t>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2278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DDDDEE"/>
                </a:solidFill>
                <a:latin typeface="Segoe UI"/>
              </a:defRPr>
            </a:pPr>
            <a:r>
              <a:t>F1=0.78 / 313 KB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5120640" cy="237744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69CD6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Evaluate on eval set with ground-truth annotations for proper F1/DER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Alpha sweep (alpha = 0.3, 0.5, 0.7, 0.9) to balance KD vs hard loss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Quantization (INT8/FP16) for additional 2-4x compression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69CD6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Latency benchmarking on CPU / ARM for edge 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5120640" cy="237744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DCAA"/>
                </a:solidFill>
                <a:latin typeface="Segoe UI"/>
              </a:defRPr>
            </a:pPr>
            <a:r>
              <a:t>Experiment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DCDCAA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Dataset: LibriParty (350 sessions, ~12 hrs audio)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CDCAA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Teacher: SpeechBrain CRDNN (109K params)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CDCAA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Training: 30 epochs, Adam, lr=1e-3, cosine schedule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CDCAA"/>
                </a:solidFill>
                <a:latin typeface="Consolas"/>
              </a:rPr>
              <a:t>  &gt;  </a:t>
            </a:r>
            <a:r>
              <a:rPr sz="1400">
                <a:solidFill>
                  <a:srgbClr val="DDDDEE"/>
                </a:solidFill>
                <a:latin typeface="Segoe UI"/>
              </a:rPr>
              <a:t>Hardware: NVIDIA RTX 3090, Windows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